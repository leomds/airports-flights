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6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EEE3D6"/>
          </a:solidFill>
          <a:ln w="12700">
            <a:solidFill>
              <a:srgbClr val="EEE3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640080"/>
            <a:ext cx="3108960" cy="3108960"/>
          </a:xfrm>
          <a:prstGeom prst="ellipse">
            <a:avLst/>
          </a:prstGeom>
          <a:solidFill>
            <a:srgbClr val="B8D4CF">
              <a:alpha val="60000"/>
            </a:srgbClr>
          </a:solidFill>
          <a:ln w="12700">
            <a:solidFill>
              <a:srgbClr val="B8D4C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651760"/>
            <a:ext cx="2377440" cy="2377440"/>
          </a:xfrm>
          <a:prstGeom prst="ellipse">
            <a:avLst/>
          </a:prstGeom>
          <a:solidFill>
            <a:srgbClr val="90B5AF">
              <a:alpha val="50000"/>
            </a:srgbClr>
          </a:solidFill>
          <a:ln w="12700">
            <a:solidFill>
              <a:srgbClr val="90B5A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1554480"/>
            <a:ext cx="237744" cy="237744"/>
          </a:xfrm>
          <a:prstGeom prst="ellipse">
            <a:avLst/>
          </a:prstGeom>
          <a:solidFill>
            <a:srgbClr val="CE481D"/>
          </a:solidFill>
          <a:ln w="12700">
            <a:solidFill>
              <a:srgbClr val="CE48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868680"/>
            <a:ext cx="237744" cy="237744"/>
          </a:xfrm>
          <a:prstGeom prst="ellipse">
            <a:avLst/>
          </a:prstGeom>
          <a:solidFill>
            <a:srgbClr val="064B72"/>
          </a:solidFill>
          <a:ln w="12700">
            <a:solidFill>
              <a:srgbClr val="064B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691640"/>
            <a:ext cx="237744" cy="237744"/>
          </a:xfrm>
          <a:prstGeom prst="ellipse">
            <a:avLst/>
          </a:prstGeom>
          <a:solidFill>
            <a:srgbClr val="064B72"/>
          </a:solidFill>
          <a:ln w="12700">
            <a:solidFill>
              <a:srgbClr val="064B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2651760"/>
            <a:ext cx="237744" cy="237744"/>
          </a:xfrm>
          <a:prstGeom prst="ellipse">
            <a:avLst/>
          </a:prstGeom>
          <a:solidFill>
            <a:srgbClr val="CE481D"/>
          </a:solidFill>
          <a:ln w="12700">
            <a:solidFill>
              <a:srgbClr val="CE48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3200400"/>
            <a:ext cx="237744" cy="237744"/>
          </a:xfrm>
          <a:prstGeom prst="ellipse">
            <a:avLst/>
          </a:prstGeom>
          <a:solidFill>
            <a:srgbClr val="064B72"/>
          </a:solidFill>
          <a:ln w="12700">
            <a:solidFill>
              <a:srgbClr val="064B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3474720"/>
            <a:ext cx="237744" cy="237744"/>
          </a:xfrm>
          <a:prstGeom prst="ellipse">
            <a:avLst/>
          </a:prstGeom>
          <a:solidFill>
            <a:srgbClr val="064B72"/>
          </a:solidFill>
          <a:ln w="12700">
            <a:solidFill>
              <a:srgbClr val="064B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88152" y="1673352"/>
            <a:ext cx="1097280" cy="-685800"/>
          </a:xfrm>
          <a:prstGeom prst="line">
            <a:avLst/>
          </a:prstGeom>
          <a:noFill/>
          <a:ln w="15240">
            <a:solidFill>
              <a:srgbClr val="064B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85432" y="987552"/>
            <a:ext cx="1005840" cy="822960"/>
          </a:xfrm>
          <a:prstGeom prst="line">
            <a:avLst/>
          </a:prstGeom>
          <a:noFill/>
          <a:ln w="15240">
            <a:solidFill>
              <a:srgbClr val="064B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91272" y="1810512"/>
            <a:ext cx="-1234440" cy="960120"/>
          </a:xfrm>
          <a:prstGeom prst="line">
            <a:avLst/>
          </a:prstGeom>
          <a:noFill/>
          <a:ln w="15240">
            <a:solidFill>
              <a:srgbClr val="064B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6832" y="2770632"/>
            <a:ext cx="1554480" cy="548640"/>
          </a:xfrm>
          <a:prstGeom prst="line">
            <a:avLst/>
          </a:prstGeom>
          <a:noFill/>
          <a:ln w="15240">
            <a:solidFill>
              <a:srgbClr val="064B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88152" y="1673352"/>
            <a:ext cx="868680" cy="1097280"/>
          </a:xfrm>
          <a:prstGeom prst="line">
            <a:avLst/>
          </a:prstGeom>
          <a:noFill/>
          <a:ln w="15240">
            <a:solidFill>
              <a:srgbClr val="064B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85432" y="987552"/>
            <a:ext cx="-228600" cy="1783080"/>
          </a:xfrm>
          <a:prstGeom prst="line">
            <a:avLst/>
          </a:prstGeom>
          <a:noFill/>
          <a:ln w="15240">
            <a:solidFill>
              <a:srgbClr val="064B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1312" y="3319272"/>
            <a:ext cx="-1783080" cy="274320"/>
          </a:xfrm>
          <a:prstGeom prst="line">
            <a:avLst/>
          </a:prstGeom>
          <a:noFill/>
          <a:ln w="15240">
            <a:solidFill>
              <a:srgbClr val="064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09728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Aplicados à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Malha Aérea Mundial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Centralidade, Conectividade e Vulnerabilidade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Leandro de Melo Sousa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ICC041: Introdução à Teoria dos Grafos, 2026/01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UFAM, Instituto de Computação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Introdução: Motivação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50392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4,54 bi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466698"/>
            <a:ext cx="192024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passageiros em 2019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(IATA, 2020)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31720" y="7772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850392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331720" y="1466698"/>
            <a:ext cx="192024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em 2020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(IATA, 2021)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7772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850392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89120" y="1466698"/>
            <a:ext cx="192024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aeroportos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OpenFlights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46520" y="777240"/>
            <a:ext cx="2423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850392"/>
            <a:ext cx="2423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37.042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46520" y="1466698"/>
            <a:ext cx="24231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diretas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85953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1762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modelar a malha aérea como grafo?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2578608"/>
            <a:ext cx="822960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topologia da rede determina quais aeroportos são passagem obrigatória, quais rotas são insubstituíveis e como a rede resiste a falhas. Essas perguntas são impossíveis de responder inspecionando dados brutos, mas tornam-se tratáveis com algoritmos de grafos: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aeroportos concentram a maioria dos caminhos mínimos da rede, mesmo tendo grau moderado?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rotas, se suspensas, isolam completamente comunidades sem alternativa de transporte?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fechamento de quais hubs fragmentaria irreversivelmente a conectividade global?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rede se comporta sob falha aleatória versus ataque direcionado?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Introdução: Trabalhos Relacionados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896112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Guimerà et al. (2005)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" y="1225296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scale-free da malha aérea mundial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8912" y="1517904"/>
            <a:ext cx="38770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Caracterizou topologicamente a rede aérea mundial identificando estrutura scale-free e papel de hubs regionais. Não aborda vulnerabilidade nem ferramentas interativas.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2340864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análise de robustez ou caminho mínimo.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064B72"/>
          </a:solidFill>
          <a:ln w="12700">
            <a:solidFill>
              <a:srgbClr val="064B7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73752" y="896112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Colizza et al. (2006)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73752" y="1225296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Disseminação de epidemias pela malha aérea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73752" y="1517904"/>
            <a:ext cx="38770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Modelou propagação de epidemias mostrando que a topologia heterogênea acelera disseminação global. Foco em epidemiologia, não em conectividade estrutural.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73752" y="2340864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análise de pontes, articulações ou Dijkstra.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" y="2980944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et al. (2000)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310128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Paradoxo robustez/vulnerabilidade em redes scale-free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" y="3602736"/>
            <a:ext cx="38770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Provou teoricamente o paradoxo: resistência a falhas aleatórias e fragilidade sob ataque direcionado. Resultado em redes sintéticas, não na malha aérea real.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425696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 empíricos da malha comercial.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9504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CE481D"/>
          </a:solidFill>
          <a:ln w="12700">
            <a:solidFill>
              <a:srgbClr val="CE481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2980944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trabalho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73752" y="3310128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unificada e empírica sobre dados reais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73752" y="3602736"/>
            <a:ext cx="38770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todas as perspectivas anteriores: centralidade, conectividade, Dijkstra, pontes, articulações e simulações de robustez adaptativas sobre o grafo OpenFlights.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73752" y="4425696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Contribuição: ferramenta interativa Streamlit.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 Pipeline de Filtragem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503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OpenFlights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airports.dat</a:t>
            </a:r>
            <a:pPr indent="0" marL="0">
              <a:buNone/>
            </a:pPr>
            <a:r>
              <a:rPr lang="en-US" sz="11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7.698 aeroportos (nome, cidade, país, código IATA, lat/lon, altitude)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routes.dat</a:t>
            </a:r>
            <a:pPr indent="0" marL="0">
              <a:buNone/>
            </a:pPr>
            <a:r>
              <a:rPr lang="en-US" sz="11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67.663 rotas (companhia, origem, destino, nº escalas, equipamento)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de cada aresta: distância geodésica Haversine em km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606040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6791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Filtragem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44952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Filtro IATA: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mantém apenas aeroportos com código de exatamente 3 letras e coordenadas válidas. Exclui bases militares, helipads e pistas privadas.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Filtro de rotas: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mantém apenas rotas com stops = 0 (voos diretos) e cujos aeroportos existam no conjunto filtrado.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Remoção de isolados: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aeroportos com grau total zero são excluídos. Resultado final: 2.815 nós removidos.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064B72"/>
          </a:solidFill>
          <a:ln w="12700">
            <a:solidFill>
              <a:srgbClr val="064B7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8032" y="8503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Formal: G = (V, E, w)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216152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conjunto de aeroportos (vértices)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⊆ V×V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rotas diretas (arestas dirigidas)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w(u,v)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distância Haversine em km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(u,v) ∈ E  ⟹  ao menos uma companhia opera voo direto de u para v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606040"/>
          <a:ext cx="4206240" cy="2331720"/>
        </p:xfrm>
        <a:graphic>
          <a:graphicData uri="http://schemas.openxmlformats.org/drawingml/2006/table">
            <a:tbl>
              <a:tblPr/>
              <a:tblGrid>
                <a:gridCol w="2286000"/>
                <a:gridCol w="960120"/>
                <a:gridCol w="96012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Aeroportos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bruto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67.663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 IATA + coordenadas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66.923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 stops 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66.923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4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Remoção de isolados (final)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E4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E4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Grau: Rede Scale-Free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50392"/>
            <a:ext cx="19202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≈ 1,06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4401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Expoente lei de potência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0,75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31720" y="7772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850392"/>
            <a:ext cx="19202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331720" y="14401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máximo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(Frankfurt)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7772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850392"/>
            <a:ext cx="19202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89120" y="14401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Aeroportos com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≤ 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46520" y="77724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850392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46520" y="14401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Aeroportos com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&gt; 200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057400"/>
            <a:ext cx="42062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130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de Potência e Cauda Pesada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514600"/>
            <a:ext cx="3840480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P(k) ~ k</a:t>
            </a:r>
            <a:pPr indent="0" marL="0">
              <a:buNone/>
            </a:pPr>
            <a:r>
              <a:rPr lang="en-US" sz="1050" baseline="300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−α</a:t>
            </a:r>
            <a:pPr indent="0" marL="0">
              <a:buNone/>
            </a:pPr>
            <a:r>
              <a:rPr lang="en-US" sz="1050" i="1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(distribuição de cauda pesada)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expoente α ≈ 1,06 está abaixo do intervalo clássico [2,3] de redes scale-free teóricas. A concentração extrema explica isso: a diferença de escala entre os 45,9% com grau ≤ 5 e os 2% com grau &gt; 200 gera uma reta log-log mais inclinada do que o modelo Barabási-Albert produz.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abaixo de [2,3], a rede ainda apresenta cauda pesada e forte heterogeneidade de grau, características centrais das redes scale-free.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0,75:</a:t>
            </a:r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aderência razoável. Desvios nas caudas são esperados pela heterogeneidade geográfica: Europa forma subgrafo quasi-completo, enquanto ilhas remotas têm grau mínimo.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057400"/>
            <a:ext cx="4206240" cy="2880360"/>
          </a:xfrm>
          <a:prstGeom prst="roundRect">
            <a:avLst>
              <a:gd name="adj" fmla="val 2540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2130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Preferential Attachment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2514600"/>
            <a:ext cx="3840480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Barabási-Albert (1999) explica a distribuição de cauda pesada pelo mecanismo de preferential attachment: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aeroportos tendem a abrir rotas para os já bem conectados, pois esses movimentam mais passageiros e oferecem mais conexões.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são poucos hubs mega-conectados (FRA, CDG, AMS) sustentando a maior parte da conectividade, enquanto a maioria dos aeroportos tem apenas 2 a 5 rotas.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Décadas de políticas hub-and-spoke das grandes companhias intensificaram essa concentração além do esperado por crescimento puramente aleatório.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Small-World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50392"/>
            <a:ext cx="27432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0,49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4401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de agrupamento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(ρ = 0,0035)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7772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50392"/>
            <a:ext cx="27432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L̄ ≈ 3,97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4401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Comprimento médio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(hops)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7772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850392"/>
            <a:ext cx="27432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~140×ρ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14401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é 140 vezes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densidade da rede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57400"/>
            <a:ext cx="4206240" cy="2880360"/>
          </a:xfrm>
          <a:prstGeom prst="roundRect">
            <a:avLst>
              <a:gd name="adj" fmla="val 2540"/>
            </a:avLst>
          </a:prstGeom>
          <a:solidFill>
            <a:srgbClr val="064B72"/>
          </a:solidFill>
          <a:ln w="12700">
            <a:solidFill>
              <a:srgbClr val="064B7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130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Watts e Strogatz (1998)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3840480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small-world combinam duas propriedades simultaneamente: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comprimento médio de caminho L̄: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redes bem conectadas, L̄ cresce como O(log N). Para N = 3.257, O(log N) ≈ 3,8, e medimos L̄ ≈ 3,97 hops. Qualquer par de aeroportos do mundo está separado por menos de 4 escalas em média.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coeficiente de agrupamento C: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vizinhos de um aeroporto tendem a ser vizinhos entre si. C = 0,49 confirma clusters regionais densos: aeroportos de Frankfurt, Amsterdam e Paris formam triângulos de rotas intrarregionais.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057400"/>
            <a:ext cx="42062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8032" y="2130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2514600"/>
            <a:ext cx="3840480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hubs europeus funcionam como atalhos globais. Para ir de Manaus (MAO) a Tóquio (NRT), passa-se por um hub continental que já está conectado a um hub asiático, comprimindo o número de escalas necessárias.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0,49 ≫ ρ = 0,0035:</a:t>
            </a:r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agrupamento é 140 vezes a densidade da rede. Isso significa que a rede tem estrutura local densa (clusters regionais) mas caminhos globais curtos: a assinatura clássica do small-world.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E4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 para epidemias:</a:t>
            </a:r>
            <a:pPr indent="0" marL="0">
              <a:buNone/>
            </a:pPr>
            <a:r>
              <a:rPr lang="en-US" sz="1050" i="1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mesma estrutura que permite conexões rápidas é o mecanismo que acelera a disseminação global de doenças (Colizza et al., 2006).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Centralidade: Definições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938528"/>
          </a:xfrm>
          <a:prstGeom prst="roundRect">
            <a:avLst>
              <a:gd name="adj" fmla="val 3774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896112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Centralidade de Grau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" y="1234440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CD(v) = deg(v) / (|V|−1)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1554480"/>
            <a:ext cx="38770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quantas conexões diretas o aeroporto possui. Em dígrafos, separam-se grau de entrada (rotas chegando) e saída (rotas partindo). Simples e intuitiva, mas não captura posição estrutural.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20624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73752" y="896112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Centralidade de Betweenness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73752" y="1234440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CB(v) = Σ σst(v) / σst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73752" y="1554480"/>
            <a:ext cx="38770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quantas vezes o aeroporto aparece nos caminhos mínimos entre todos os pares. Aeroportos com alto betweenness são intermediadores críticos: mesmo com grau moderado, seu fechamento afeta desproporcionalmente a rede.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07792"/>
            <a:ext cx="420624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2999232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Centralidade de Closeness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37560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CC(v) = (|V|−1) / Σ d(v,u)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3657600"/>
            <a:ext cx="38770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eficiência com que o aeroporto alcança todos os demais. Valores altos indicam hubs que precisam de poucas escalas para qualquer destino, bem posicionados geograficamente.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907792"/>
            <a:ext cx="4206240" cy="1938528"/>
          </a:xfrm>
          <a:prstGeom prst="roundRect">
            <a:avLst>
              <a:gd name="adj" fmla="val 3774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73752" y="2999232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73752" y="3337560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PR(v) = (1−d)/|V| + d Σ PR(u)/deg+(u)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3752" y="3657600"/>
            <a:ext cx="387705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voos de hubs importantes vale mais do que receber de muitos aeroportos pequenos. Originalmente o algoritmo do Google, adaptado para redes aéreas: captura qualidade das conexões, não apenas quantidade.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Centralidade: Resultados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5120640" cy="4133088"/>
        </p:xfrm>
        <a:graphic>
          <a:graphicData uri="http://schemas.openxmlformats.org/drawingml/2006/table">
            <a:tbl>
              <a:tblPr/>
              <a:tblGrid>
                <a:gridCol w="457200"/>
                <a:gridCol w="548640"/>
                <a:gridCol w="1371600"/>
                <a:gridCol w="548640"/>
                <a:gridCol w="1005840"/>
                <a:gridCol w="914400"/>
              </a:tblGrid>
              <a:tr h="3757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Degree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</a:tr>
              <a:tr h="3757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E4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Frankfurt, 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7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E4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Paris, FR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E4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0,0094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7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Amsterdã, NL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7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Istambul, 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7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Atlanta, EUA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7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Chicago, EUA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7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Beijing, CN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7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Munique, 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7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Moscou, 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7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6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Dubai, EAU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6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0,0083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804672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42432" y="877824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CDG vs FRA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42432" y="1234440"/>
            <a:ext cx="29626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CDG lidera em PageRank (0,0094) mesmo não liderando em grau: Paris recebe voos de aeroportos mais influentes do que Frankfurt. Ser apontado por quem é importante vale mais do que ter muitas conexões.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577840" y="283464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42432" y="2907792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DXB: PageRank acima do esperado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42432" y="3291840"/>
            <a:ext cx="296265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ocupa o 10º lugar em grau, mas tem PageRank idêntico ao 3º colocado (AMS). Sua posição estratégica entre hubs da Ásia, África e Europa o torna um ponto de redistribuição de alto valor: recebe voos de aeroportos que já são hubs importantes em suas regiões.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Betweenness: O Paradoxo do Grau Moderado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371600"/>
          </a:xfrm>
          <a:prstGeom prst="roundRect">
            <a:avLst>
              <a:gd name="adj" fmla="val 5333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mede poder de intermediação, não popularidade.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KEF (Reykjavík) e ANC (Anchorage) estão nas posições 288 e 283 no ranking de grau, mas ocupam o 1º e 4º lugar no ranking de betweenness. Geograficamente situados em pontos de inflexão entre continentes separados por oceanos, concentram uma fração desproporcional dos caminhos mínimos da rede.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28600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064B72"/>
          </a:solidFill>
          <a:ln w="12700">
            <a:solidFill>
              <a:srgbClr val="064B7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2359152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KEF: Reykjavík, Islândia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670048"/>
            <a:ext cx="3877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288º em grau  •  1º em betweenness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926080"/>
            <a:ext cx="3877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inflexão entre América do Norte e Europa. Rotas transatlânticas que passam pelo Atlântico Norte frequentemente usam Reykjavík como waypoint eficiente.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064B72"/>
          </a:solidFill>
          <a:ln w="12700">
            <a:solidFill>
              <a:srgbClr val="064B7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73752" y="2359152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ANC: Anchorage, EUA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3752" y="2670048"/>
            <a:ext cx="3877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283º em grau  •  4º em betweenness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2926080"/>
            <a:ext cx="3877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geográfica no arco do Pacífico Norte. Rotas entre América do Norte e Ásia passam por Anchorage por ser o ponto mais próximo entre os dois continentes.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0332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8912" y="3776472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HIR: Honiara, Ilhas Salomão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4087368"/>
            <a:ext cx="3877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491º em grau  •  27º em betweenness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343400"/>
            <a:ext cx="3877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 conectividade do Pacífico Sul. Único ponto de acesso para diversas ilhas remotas do Pacífico, concentrando todos os caminhos mínimos que passam pela região.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70332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3776472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NAN: Nadi, Fiji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3752" y="4087368"/>
            <a:ext cx="3877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381º em grau  •  20º em betweenness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73752" y="4343400"/>
            <a:ext cx="3877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hub do Pacífico Central. Liga ilhas do Pacífico às rotas transpacíficas, funcionando como intermediador obrigatório para dezenas de destinos remotos.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Conectividade: Componentes, Pontes e Articulações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50392"/>
            <a:ext cx="192024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WCC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424269"/>
            <a:ext cx="1920240" cy="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gigante (99,2%)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pequenos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31720" y="777240"/>
            <a:ext cx="1920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850392"/>
            <a:ext cx="192024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SCC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331720" y="1424269"/>
            <a:ext cx="1920240" cy="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Maior: 97,9%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total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777240"/>
            <a:ext cx="1920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850392"/>
            <a:ext cx="192024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89120" y="1424269"/>
            <a:ext cx="1920240" cy="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(rotas sem alternativa)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46520" y="777240"/>
            <a:ext cx="24231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850392"/>
            <a:ext cx="242316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46520" y="1424269"/>
            <a:ext cx="2423160" cy="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articulação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029968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" y="2121408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WCC (Componente Fracamente Conexo)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2468880"/>
            <a:ext cx="3877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maximal de aeroportos onde existe caminho entre qualquer par, ignorando a direção das rotas. A discrepância WCC 99,2% vs SCC 97,9% revela ~41 aeroportos com rotas registradas em apenas uma direção.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029968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2121408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(Componente Fortemente Conexo)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3752" y="2468880"/>
            <a:ext cx="3877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caminhos de ida e volta entre qualquer par. Aeroportos fora do maior SCC têm rotas em apenas uma direção no dataset: chegam mas não saem, ou vice-versa. Reflexo de cobertura assimétrica de companhias regionais.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602736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38912" y="3694176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(Bridge)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4041648"/>
            <a:ext cx="3877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 (u,v) cuja remoção aumenta o número de componentes conexos. Em termos operacionais: rota sem nenhuma alternativa. Se suspensa, o aeroporto v fica completamente isolado. Detectada por DFS com valores low-link: low[v] &gt; disc[u].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602736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73752" y="3694176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Articulação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73752" y="4041648"/>
            <a:ext cx="3877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 v cuja remoção desconecta o grafo. Todos os aeroportos que dependiam de passar por v perdem sua conectividade simultaneamente. Detectado quando low[v] ≥ disc[u] para algum filho v na DFS.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E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Conectividade: Caso Manaus e Distribuição das Pontes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503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 (MAO): Ponto de Articulação Regional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7548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36 rotas totais, MAO conecta 15 destinos brasileiros. Quatro deles têm grau 2, o que significa que possuem apenas a rota para Manaus mais uma rota local: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Barcelos (BAZ), Coari (CIZ), Parintins (PIN), Tabatinga (TBT) e Tefé (TFF)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esses aeroportos, MAO não é conveniente: é o único caminho possível para qualquer ponto da rede nacional ou internacional.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fechamento de Manaus não inconvenizaria apenas passageiros: isolaria completamente comunidades sem acesso rodoviário ou ferroviário viável, interrompendo abastecimento, atendimento médico e mobilidade de trabalhadores em toda a região Noroeste da Amazônia.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ilustra como a teoria dos grafos tem implicações práticas diretas: um conceito abstrato (ponto de articulação) corresponde a uma vulnerabilidade com consequências humanas concretas.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577840" y="777240"/>
            <a:ext cx="329184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15000" y="8686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das 786 Pontes por País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95160" y="1252728"/>
            <a:ext cx="0" cy="3483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392083"/>
            <a:ext cx="1344168" cy="21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95160" y="1392083"/>
            <a:ext cx="1347395" cy="218986"/>
          </a:xfrm>
          <a:prstGeom prst="roundRect">
            <a:avLst>
              <a:gd name="adj" fmla="val 12527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7419" y="1392083"/>
            <a:ext cx="457200" cy="21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77840" y="1889777"/>
            <a:ext cx="1344168" cy="21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Austrália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95160" y="1889777"/>
            <a:ext cx="310627" cy="218986"/>
          </a:xfrm>
          <a:prstGeom prst="roundRect">
            <a:avLst>
              <a:gd name="adj" fmla="val 12527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651" y="1889777"/>
            <a:ext cx="457200" cy="21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77840" y="2387472"/>
            <a:ext cx="1344168" cy="21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95160" y="2387472"/>
            <a:ext cx="306593" cy="218986"/>
          </a:xfrm>
          <a:prstGeom prst="roundRect">
            <a:avLst>
              <a:gd name="adj" fmla="val 12527"/>
            </a:avLst>
          </a:prstGeom>
          <a:solidFill>
            <a:srgbClr val="CE481D"/>
          </a:solidFill>
          <a:ln w="12700">
            <a:solidFill>
              <a:srgbClr val="CE48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56617" y="2387472"/>
            <a:ext cx="457200" cy="21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E4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2885167"/>
            <a:ext cx="1344168" cy="21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Rússia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2885167"/>
            <a:ext cx="153296" cy="218986"/>
          </a:xfrm>
          <a:prstGeom prst="roundRect">
            <a:avLst>
              <a:gd name="adj" fmla="val 17895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3320" y="2885167"/>
            <a:ext cx="457200" cy="21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77840" y="3382862"/>
            <a:ext cx="1344168" cy="21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Canadá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95160" y="3382862"/>
            <a:ext cx="125058" cy="218986"/>
          </a:xfrm>
          <a:prstGeom prst="roundRect">
            <a:avLst>
              <a:gd name="adj" fmla="val 21935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5082" y="3382862"/>
            <a:ext cx="457200" cy="21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77840" y="3880557"/>
            <a:ext cx="1344168" cy="21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Papua N.G.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95160" y="3880557"/>
            <a:ext cx="112955" cy="218986"/>
          </a:xfrm>
          <a:prstGeom prst="roundRect">
            <a:avLst>
              <a:gd name="adj" fmla="val 24286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62979" y="3880557"/>
            <a:ext cx="457200" cy="21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77840" y="4378252"/>
            <a:ext cx="1344168" cy="21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95160" y="4378252"/>
            <a:ext cx="814892" cy="218986"/>
          </a:xfrm>
          <a:prstGeom prst="roundRect">
            <a:avLst>
              <a:gd name="adj" fmla="val 12527"/>
            </a:avLst>
          </a:prstGeom>
          <a:solidFill>
            <a:srgbClr val="B8D4CF"/>
          </a:solidFill>
          <a:ln w="12700">
            <a:solidFill>
              <a:srgbClr val="B8D4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4916" y="4378252"/>
            <a:ext cx="457200" cy="21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E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Mínimo: Algoritmo de Dijkstra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064B72"/>
          </a:solidFill>
          <a:ln w="12700">
            <a:solidFill>
              <a:srgbClr val="064B7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50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com Peso Geodésico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840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O((|V|+|E|) log |V|) com heap binário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visita vértices em ordem crescente de distância acumulada. Para cada nó u extraído da fila de prioridade, relaxa todas as arestas de saída (u,v): se d[u] + w(u,v) &lt; d[v], atualiza d[v] e insere v na fila.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= distância Haversine em km (geodésica sobre a superfície terrestre). Garante que o peso é sempre não-negativo, condição necessária para o Dijkstra.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especiais tratados: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inexistente: retorna (None, None)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não encontrado: retorna (None, None)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Aeroportos bloqueados: cópia do grafo com nós proibidos removidos antes da execução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850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MAO → DOH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8032" y="1243584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ótima (Dijkstra):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 → FOR → RAI → CMN → DOH = 13.385 km (4 escalas)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convencional (via GRU):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 → GRU → DOH = 14.556 km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 está 8° mais a leste que São Paulo, encurtando o trecho transatlântico em 1.171 km.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816352"/>
          <a:ext cx="4206240" cy="2121408"/>
        </p:xfrm>
        <a:graphic>
          <a:graphicData uri="http://schemas.openxmlformats.org/drawingml/2006/table">
            <a:tbl>
              <a:tblPr/>
              <a:tblGrid>
                <a:gridCol w="320040"/>
                <a:gridCol w="502920"/>
                <a:gridCol w="685800"/>
                <a:gridCol w="685800"/>
                <a:gridCol w="777240"/>
                <a:gridCol w="1234440"/>
              </a:tblGrid>
              <a:tr h="3535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d[FOR]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d[GRU]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d[CDG]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Inicializa d[MAO]=0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Relaxa FOR e GRU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d[CDG] = 2.400 + 7.800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2.700+9.200=11.900 &gt; 10.200, sem atualização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E4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E4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10.200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Destino alcançado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E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Dijkstra: Limitações do Modelo Geodésico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CE481D"/>
          </a:solidFill>
          <a:ln w="12700">
            <a:solidFill>
              <a:srgbClr val="CE481D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503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matematicamente ótimo pode divergir do itinerário operacionalmente convencional.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19072"/>
            <a:ext cx="42062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810512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de voos não considerada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2176272"/>
            <a:ext cx="38770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rota operada 2 vezes por semana tem o mesmo peso que uma com 20 voos diários. Conexões raras ou sazonais aparecem como opções igualmente válidas. O modelo não sabe distinguir uma rota histórica inativa de uma rota diária de alta demanda.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719072"/>
            <a:ext cx="42062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73752" y="1810512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espera em escalas ignorado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73752" y="2176272"/>
            <a:ext cx="38770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caminho com 3 escalas curtas pode ser menor em km mas impraticável se as conexões não coincidem em horário. Dijkstra encontra o caminho de menor distância total, não o de menor tempo real de viagem.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438144"/>
            <a:ext cx="4206240" cy="1572768"/>
          </a:xfrm>
          <a:prstGeom prst="roundRect">
            <a:avLst>
              <a:gd name="adj" fmla="val 4651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3529584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operacionais comerciais ausentes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3895344"/>
            <a:ext cx="38770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Companhias aéreas estruturam hubs por razões comerciais. Manaus conecta-se ao mundo via São Paulo (GRU) por razões de demanda e frequência, não por geometria. O modelo escolhe Fortaleza por ser 1.171 km mais curta em linha reta.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3438144"/>
            <a:ext cx="4206240" cy="1572768"/>
          </a:xfrm>
          <a:prstGeom prst="roundRect">
            <a:avLst>
              <a:gd name="adj" fmla="val 4651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73752" y="3529584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Extensões necessárias para modelo realista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3895344"/>
            <a:ext cx="38770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temporais com horários de voo; pesos multidimensionais (distância + espera + frequência + capacidade); dados de assentos disponíveis por trecho. Cada extensão adiciona realismo mas também complexidade computacional.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E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Robustez: Simulações de Remoção Iterativa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50392"/>
            <a:ext cx="274320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0,407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424269"/>
            <a:ext cx="2743200" cy="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Aleatória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777240"/>
            <a:ext cx="27432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50392"/>
            <a:ext cx="274320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0,078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424269"/>
            <a:ext cx="2743200" cy="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por Grau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(FRA, CDG, AMS, IST, ATL)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777240"/>
            <a:ext cx="27432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850392"/>
            <a:ext cx="274320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0,070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1424269"/>
            <a:ext cx="2743200" cy="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por Betweenness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(IST, PEK, SEA, ANC, KEF)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29968"/>
            <a:ext cx="4114800" cy="2907792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1214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Robustez (AUC)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91640" y="2505456"/>
            <a:ext cx="0" cy="223113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13695"/>
            <a:ext cx="1344168" cy="327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Aleatória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91640" y="2713695"/>
            <a:ext cx="1984858" cy="327233"/>
          </a:xfrm>
          <a:prstGeom prst="roundRect">
            <a:avLst>
              <a:gd name="adj" fmla="val 8383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1362" y="2713695"/>
            <a:ext cx="457200" cy="327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6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3457407"/>
            <a:ext cx="1344168" cy="327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por Grau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91640" y="3457407"/>
            <a:ext cx="380390" cy="327233"/>
          </a:xfrm>
          <a:prstGeom prst="roundRect">
            <a:avLst>
              <a:gd name="adj" fmla="val 8383"/>
            </a:avLst>
          </a:prstGeom>
          <a:solidFill>
            <a:srgbClr val="CE481D"/>
          </a:solidFill>
          <a:ln w="12700">
            <a:solidFill>
              <a:srgbClr val="CE48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6894" y="3457407"/>
            <a:ext cx="457200" cy="327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E4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0.078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4201119"/>
            <a:ext cx="1344168" cy="327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91640" y="4201119"/>
            <a:ext cx="341376" cy="327233"/>
          </a:xfrm>
          <a:prstGeom prst="roundRect">
            <a:avLst>
              <a:gd name="adj" fmla="val 8383"/>
            </a:avLst>
          </a:prstGeom>
          <a:solidFill>
            <a:srgbClr val="CE481D"/>
          </a:solidFill>
          <a:ln w="12700">
            <a:solidFill>
              <a:srgbClr val="CE48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87880" y="4201119"/>
            <a:ext cx="457200" cy="327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E4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029968"/>
          <a:ext cx="4297680" cy="2907792"/>
        </p:xfrm>
        <a:graphic>
          <a:graphicData uri="http://schemas.openxmlformats.org/drawingml/2006/table">
            <a:tbl>
              <a:tblPr/>
              <a:tblGrid>
                <a:gridCol w="1417320"/>
                <a:gridCol w="960120"/>
                <a:gridCol w="1234440"/>
                <a:gridCol w="685800"/>
              </a:tblGrid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Rotas perdidas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Aeroportos desconectados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WCC depois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C81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 aleatória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Ataque por Betweenness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E4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1.172 (−3,2%)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E4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 (−4,4%)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Ataque por Grau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E4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2.280 (−6,2%)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E4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(−0,7%)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Ataque por PageRank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E4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2.100 (−5,7%)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E4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(−0,3%)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E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Robustez: O Paradoxo das Redes Heterogêneas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064B72"/>
          </a:solidFill>
          <a:ln w="12700">
            <a:solidFill>
              <a:srgbClr val="064B7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503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os 5 hubs mais conectados e 5 aleatórios causa a mesma perda imediata de rotas, mas o impacto na conectividade diverge drasticamente.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2011680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resistência a falhas aleatórias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2359152"/>
            <a:ext cx="3877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probabilidade de uma falha aleatória atingir um dos 5 maiores hubs entre 3.257 aeroportos é inferior a 0,2%. Falhas aleatórias raramente atingem nós críticos, e a rede degrada suavemente (AUC = 0,407). Modela desastres localizados ou falhas técnicas não planejadas.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92024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73752" y="2011680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Fragilidade sob ataque por grau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73752" y="2359152"/>
            <a:ext cx="3877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FRA, CDG, AMS, IST, ATL causa perda de 2.280 rotas (−6,2%) mas desconecta apenas 43 aeroportos (−0,7% do componente). O impacto em volume de conexões é grande, mas a fragmentação estrutural é contida: os 5 hubs têm redundância parcial entre si.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493008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3584448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Fragmentação máxima por betweenness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3931920"/>
            <a:ext cx="3877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IST, PEK, SEA, ANC, KEF causa perda de apenas 1.172 rotas (−3,2%) mas desconecta 164 aeroportos (−4,4% do componente). Intermediadores com grau moderado mas posição geográfica estratégica cortam dezenas de caminhos mínimos simultâneos quando removidos.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3493008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026C81"/>
          </a:solidFill>
          <a:ln w="12700">
            <a:solidFill>
              <a:srgbClr val="026C8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73752" y="3584448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práticas das estratégias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3931920"/>
            <a:ext cx="38770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Betweenness: mais eficiente para conter disseminação ou fragmentar a rede com menos fechamentos. Grau: adequado para reduzir rapidamente volume de tráfego. PageRank: intermediário, privilegia influência recebida mas não posição estrutural de ponte.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6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EE3D6"/>
          </a:solidFill>
          <a:ln w="12700">
            <a:solidFill>
              <a:srgbClr val="EEE3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 Trabalhos Futuros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EEE3D6"/>
          </a:solidFill>
          <a:ln w="12700">
            <a:solidFill>
              <a:srgbClr val="EEE3D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896112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Scale-Free e Small-World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" y="1261872"/>
            <a:ext cx="38770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≈ 1,06, C = 0,49, L̄ ≈ 3,97 hops. Dominância de hubs mais pronunciada que o modelo Barabási-Albert clássico prevê, consistente com Guimerà et al. (2005).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804672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EEE3D6"/>
          </a:solidFill>
          <a:ln w="12700">
            <a:solidFill>
              <a:srgbClr val="EEE3D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3752" y="896112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Centralidade Multidimensional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73752" y="1261872"/>
            <a:ext cx="38770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lidera em grau (477), CDG em PageRank. KEF e ANC dominam em betweenness sem grau equivalente. Identificar só os mais conectados não basta para mapear vulnerabilidades críticas.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724912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EEE3D6"/>
          </a:solidFill>
          <a:ln w="12700">
            <a:solidFill>
              <a:srgbClr val="EEE3D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" y="2816352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Estruturais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3182112"/>
            <a:ext cx="38770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786 pontes e 339 articulações. Caso Manaus: abstração matemática com consequências humanas concretas. EUA (334), Austrália (77) e Brasil (76) concentram a maioria das pontes.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724912"/>
            <a:ext cx="4206240" cy="1755648"/>
          </a:xfrm>
          <a:prstGeom prst="roundRect">
            <a:avLst>
              <a:gd name="adj" fmla="val 4167"/>
            </a:avLst>
          </a:prstGeom>
          <a:solidFill>
            <a:srgbClr val="EEE3D6"/>
          </a:solidFill>
          <a:ln w="12700">
            <a:solidFill>
              <a:srgbClr val="EEE3D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73752" y="2816352"/>
            <a:ext cx="3877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Paradoxo de Robustez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3752" y="3182112"/>
            <a:ext cx="38770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0,407 (aleatório) vs 0,070-0,078 (direcionado). Betweenness fragmenta mais com menos fechamentos. Resultados têm implicações para contingência aérea e segurança de infraestrutura.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645152"/>
            <a:ext cx="8595360" cy="347472"/>
          </a:xfrm>
          <a:prstGeom prst="roundRect">
            <a:avLst>
              <a:gd name="adj" fmla="val 21053"/>
            </a:avLst>
          </a:prstGeom>
          <a:solidFill>
            <a:srgbClr val="064B72"/>
          </a:solidFill>
          <a:ln w="12700">
            <a:solidFill>
              <a:srgbClr val="064B72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663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20240" y="46634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análise temporal pré/pós-pandemia  •  (ii) comunidades Louvain/Leiden  •  (iii) fluxo máximo com capacidade de assentos  •  (iv) grafo temporal com horários de voo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Grafos Aplicados à Malha Aérea Mundial</dc:title>
  <dc:subject>PptxGenJS Presentation</dc:subject>
  <dc:creator>Jose Leandro de Melo Sousa</dc:creator>
  <cp:lastModifiedBy>Jose Leandro de Melo Sousa</cp:lastModifiedBy>
  <cp:revision>1</cp:revision>
  <dcterms:created xsi:type="dcterms:W3CDTF">2026-06-22T04:04:03Z</dcterms:created>
  <dcterms:modified xsi:type="dcterms:W3CDTF">2026-06-22T04:04:03Z</dcterms:modified>
</cp:coreProperties>
</file>